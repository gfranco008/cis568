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331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Van der Pol Oscillator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ED2F0"/>
                </a:solidFill>
              </a:rPr>
              <a:t>Parametric Dynamics and Surrogate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CIS 568  ·  Final Visualization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Gustavo Franco Reynoso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6B4DC"/>
                </a:solidFill>
              </a:rPr>
              <a:t>7 Interactive Visualizations  ·  D3.js  ·  RK4  ·  Chebyshev / Barycentric Interpolation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Is the Van der Pol Oscillator?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</a:rPr>
              <a:t>Think of a swing that keeps swinging forever on its own.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0">
                <a:solidFill>
                  <a:srgbClr val="3C3C3C"/>
                </a:solidFill>
              </a:rPr>
              <a:t>Normal swings slow down from friction or fly off with too much push. The Van der Pol oscillator finds a perfect middle ground: a self-sustaining rhythm called a limit cycle.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55A11"/>
                </a:solidFill>
              </a:rPr>
              <a:t>The magic knob: mu (μ)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Small μ: smooth, round waves (like a gentle pendulum).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Large μ: slow charge-up then a hard snap-back (like a heartbeat).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</a:rPr>
              <a:t>The equation, in plain English: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2200" b="1">
                <a:solidFill>
                  <a:srgbClr val="123460"/>
                </a:solidFill>
              </a:rPr>
              <a:t>ẍ − μ(1 − x²)ẋ + x = 0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x = position   |   ẋ = speed   |   ẍ = acceleration   |   μ = nonlinearity strength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When |x| &lt; 1: the middle term pumps energy in. When |x| &gt; 1: it pulls energy out. The result is that the system locks onto a stable loop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Does This Matter?  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6692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Science and Engineering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Cardiac rhythms: the heart self-oscillates just like this model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Neuroscience: neuron firing patterns match Van der Pol dynamics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Electrical circuits: invented to describe vacuum-tube radio oscillators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Mechanical systems: vibration isolation, MEMS devices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Climate and Economics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El Nino oscillations follow a similar nonlinear ODE structure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Business cycles have been modeled as nonlinear oscillators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700" b="1">
                <a:solidFill>
                  <a:srgbClr val="C55A11"/>
                </a:solidFill>
              </a:rPr>
              <a:t>Why study the parameter μ?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In real applications you rarely know the exact parameter. You need to see how behavior shifts across a whole range of μ.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55A11"/>
                </a:solidFill>
              </a:rPr>
              <a:t>Why use surrogate models?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Running the full ODE for every μ gets expensive. A surrogate lets you precompute once and query instantly.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</a:rPr>
              <a:t>This project does both: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</a:rPr>
              <a:t>Explores μ visually AND tests how well surrogates approximate the true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the Visualization Is Built  (Technical 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Step 1: Solve the ODE with RK4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4th-order Runge-Kutta re-checks trajectory direction 4x per step so small errors do not compound over time.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Step 2: Choose smart sample points (nodes)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Equispaced: simple, like measuring every inch. Chebyshev: denser near the edges where polynomials tend to blow up.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Step 3: Interpolate between samples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Barycentric Lagrange interpolation fills in values between sample points. It is fast, stable, and numerically well-behaved.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Step 4: Link everything with D3.js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Seven interactive pages, each showing a different angle on the data. Move one slider and every linked chart updates instantly.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460"/>
                </a:solidFill>
              </a:rPr>
              <a:t>7 Pages:  Effect of μ  ·  Time Evolution  ·  Basin of Attraction  ·  Vector Field + Nullclines  ·  Amplitude &amp; Period  ·  Barycentric Interpolation  ·  Parametric Surrogate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Visualization 1: Effect of 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665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2F0"/>
                </a:solidFill>
              </a:rPr>
              <a:t>How does changing μ transform the oscillator's behavior?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5650992" cy="55046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442" y="1078992"/>
            <a:ext cx="4474778" cy="5504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1170432"/>
            <a:ext cx="5376672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</a:rPr>
              <a:t>WHAT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Side-by-side plots of velocity, position, and phase-portrait loops, all colored by μ. A bottom panel overlays limit cycles from multiple μ values at once.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C8C"/>
                </a:solidFill>
              </a:rPr>
              <a:t>WHY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It shows the big picture. One glance lets you see how the oscillator shifts from smooth sine waves at small μ to sharp relaxation oscillations at large μ.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</a:rPr>
              <a:t>HOW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RK4 solves the ODE for each μ. D3 renders three linked panels using a plasma color scale. The μ slider updates all three panels at the same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Visualization 2: Time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665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2F0"/>
                </a:solidFill>
              </a:rPr>
              <a:t>Watch a single trajectory settle from any starting point onto its steady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6520" y="1078992"/>
            <a:ext cx="5650992" cy="55046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219092"/>
            <a:ext cx="6217920" cy="32244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79" y="1170432"/>
            <a:ext cx="5376672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</a:rPr>
              <a:t>WHAT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An animated dot moves through phase space on the left while the matching time signal builds up on the right. A dashed curve marks the target limit cycle.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C8C"/>
                </a:solidFill>
              </a:rPr>
              <a:t>WHY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Most systems start out messy and calm down over time. This animation makes that settling visible. You can watch the system literally forget where it started.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</a:rPr>
              <a:t>HOW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The ODE integrates step by step. Each frame draws the next segment of the path in both panels. There is a play/pause button and a μ selector for full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Visualization 3: Basin of Attraction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665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2F0"/>
                </a:solidFill>
              </a:rPr>
              <a:t>Does the starting position matter?  Short answer: 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5650992" cy="55046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462" y="1078992"/>
            <a:ext cx="5750739" cy="5504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1170432"/>
            <a:ext cx="5376672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</a:rPr>
              <a:t>WHAT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Eight trajectories start at different positions, some inside the limit cycle and some outside. All of them are animated at the same time in phase space.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C8C"/>
                </a:solidFill>
              </a:rPr>
              <a:t>WHY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A global attractor means every starting point ends up in the same place. Watching all eight paths converge onto the same dashed oval makes that concrete.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</a:rPr>
              <a:t>HOW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Eight initial conditions are integrated in parallel, each with a unique color. The limit cycle is overlaid as a dashed reference curve.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Visualization 4: Vector Field + Nullclines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665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2F0"/>
                </a:solidFill>
              </a:rPr>
              <a:t>What forces are pushing the system at every point in phase space?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6520" y="1078992"/>
            <a:ext cx="5650992" cy="55046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76" y="1078992"/>
            <a:ext cx="5826086" cy="5504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79" y="1170432"/>
            <a:ext cx="5376672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</a:rPr>
              <a:t>WHAT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A grid of arrows shows the direction and speed of flow at every point in phase space. Two curves called nullclines mark where each derivative equals zero.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C8C"/>
                </a:solidFill>
              </a:rPr>
              <a:t>WHY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Instead of following one trajectory, you see the full terrain. Arrows show where things are headed and nullclines mark the ridges that separate regions of different behavior.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</a:rPr>
              <a:t>HOW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Arrow direction comes from f(x, x') evaluated on a grid. Nullclines are derived analytically. Brightness encodes speed. The numerical limit cycle is drawn on top.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Visualization 5: Amplitude &amp; Period vs 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665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2F0"/>
                </a:solidFill>
              </a:rPr>
              <a:t>How do the size and timing of oscillations change with μ?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5650992" cy="55046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213082"/>
            <a:ext cx="6217920" cy="32365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1170432"/>
            <a:ext cx="5376672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</a:rPr>
              <a:t>WHAT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Two line charts: amplitude (max |x|) on top and period (T) on the bottom, both plotted against μ. A dashed line marks the linear harmonic period of 2π.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C8C"/>
                </a:solidFill>
              </a:rPr>
              <a:t>WHY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Instead of just looking at shapes, you get actual numbers. You can pinpoint exactly where the linear approximation starts to break down, which matters a lot for real-world use.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</a:rPr>
              <a:t>HOW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For each μ, RK4 runs past the transient. Amplitude is max|x| after the transient. Period is measured from successive zero-crossings. Both are plotted as connected segments.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Visualization 6: Barycentric Lagrange Interpolation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665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2F0"/>
                </a:solidFill>
              </a:rPr>
              <a:t>Can we reconstruct x(t) without solving the ODE from scratch every time?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6520" y="1078992"/>
            <a:ext cx="5650992" cy="55046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960" y="1078992"/>
            <a:ext cx="3538319" cy="5504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79" y="1170432"/>
            <a:ext cx="5376672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</a:rPr>
              <a:t>WHAT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Four panels: interpolated x(t) and x'(t) compared to RK4 truth, pointwise error on a log scale, and max-error convergence vs polynomial degree n. Red is equispaced, teal is Chebyshev.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C8C"/>
                </a:solidFill>
              </a:rPr>
              <a:t>WHY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Running the full ODE at every time step is expensive. Interpolation rebuilds the signal from a small number of key samples. This page shows which node strategy works better and where each one breaks down.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</a:rPr>
              <a:t>HOW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RK4 truth is sampled at n points. Barycentric weights are computed and the interpolant is evaluated on a dense grid. Error = |truth minus interpolant|. The degree slider updates all four panels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Visualization 7: Parametric Surrogate vs 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7665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2F0"/>
                </a:solidFill>
              </a:rPr>
              <a:t>Can we predict x(t*) at any μ without running the ODE at all?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5650992" cy="550468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321" y="1078992"/>
            <a:ext cx="5469020" cy="5504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1170432"/>
            <a:ext cx="5376672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</a:rPr>
              <a:t>WHAT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Four panels: surrogate vs truth across μ, absolute error vs μ, max error vs training size N, and runtime vs N. Red is equispaced, teal is Chebyshev.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C8C"/>
                </a:solidFill>
              </a:rPr>
              <a:t>WHY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The practical payoff: run N training solves once, then query any μ instantly. The page shows both accuracy and cost in one place so you can make an informed choice.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</a:rPr>
              <a:t>HOW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N ODE solutions are run at chosen μ nodes. Barycentric surrogates are built and evaluated on a dense μ grid. Error and runtime are logged vs N. All panels update when you change N, node type, or snapshot time t*.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</a:rPr>
              <a:t>1.  μ is the master switch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One parameter shifts the system from smooth sine waves to sharp relaxation oscillations. You can see it on every page.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</a:rPr>
              <a:t>2.  The limit cycle is a global attractor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No matter where you start, every trajectory ends on the same closed orbit. The system is predictable regardless of initial conditions.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</a:rPr>
              <a:t>3.  Chebyshev nodes beat equispaced nodes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Equispaced nodes at high polynomial degree cause Runge's phenomenon: wild oscillations near the boundaries. Chebyshev clustering avoids this and converges exponentially.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</a:rPr>
              <a:t>4.  Cost vs accuracy is a real tradeoff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More training nodes means lower surrogate error but longer precomputation. Visualization 7 shows exactly how steep that tradeoff is.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</a:rPr>
              <a:t>5.  Linked views beat isolated charts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One μ slider updating phase portrait, time series, error, and cost at once reveals connections that separate plots would hide.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</a:rPr>
              <a:t>What this project built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0">
                <a:solidFill>
                  <a:srgbClr val="3C3C3C"/>
                </a:solidFill>
              </a:rPr>
              <a:t>A seven-page interactive suite that takes the Van der Pol oscillator from first principles all the way to surrogate modeling, running entirely in the browser with no installation needed.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</a:rPr>
              <a:t>The main takeaway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500" b="0">
                <a:solidFill>
                  <a:srgbClr val="3C3C3C"/>
                </a:solidFill>
              </a:rPr>
              <a:t>You do not need calculus to build intuition for nonlinear dynamics. A good visualization makes parameter sensitivity, attractors, vector fields, and interpolation error click, even for someone seeing this for the first time.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</a:rPr>
              <a:t>Things that worked well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Linked views beat isolated charts. The μ slider connects all seven pages.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Animation shows time structure that a static plot cannot (see Basin of Attraction).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Plasma color scale works well for a continuous parameter like μ.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Log-scale error axes are necessary. Linear scale makes all differences look the same.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</a:rPr>
              <a:t>vs other tools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400" b="0">
                <a:solidFill>
                  <a:srgbClr val="3C3C3C"/>
                </a:solidFill>
              </a:rPr>
              <a:t>Wolfram and MATLAB are more powerful numerically but need software and are not as easy to link across views. This project trades some speed for browser-native interactivity and clarity.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Possible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623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Better Surrogate Models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Add cubic splines, RBF, and Gaussian Process surrogates. GPs give you uncertainty bands around predictions, not just point estimates.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Adaptive Node Placement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Automatically refine sampling near μ values where behavior changes fast. Could cut the number of ODE solves roughly in half.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Stochastic Extension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Add noise to the ODE. Show how clean limit cycles blur into probability clouds, which is what happens in real physical systems.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Web Workers for Computation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Move the ODE solving to a background thread so the UI stays responsive during heavy parameter sweeps.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715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Coupled Oscillators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Two coupled Van der Pol oscillators with separate μ knobs. Opens up synchronization and near-chaos, a much richer parameter space.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Data Export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Let users download trajectory data, surrogate parameters, and error tables as CSV or JSON to use in their own pipelines.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Accessibility and Mobile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Add ARIA labels, keyboard navigation, and responsive layouts so it works on tablets and with screen readers.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E79"/>
                </a:solidFill>
              </a:rPr>
              <a:t>Side-by-Side Comparison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C3C3C"/>
                </a:solidFill>
              </a:rPr>
              <a:t>Lock two μ values at once so you can compare phase portraits and metrics directly without toggling back and forth.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