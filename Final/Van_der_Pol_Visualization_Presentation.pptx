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2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88952" cy="2286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Van der Pol Oscillator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BED2F0"/>
                </a:solidFill>
              </a:rPr>
              <a:t>Parametric Dynamics and Surrogate Modeling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6888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</a:rPr>
              <a:t>CIS 568  ·  Final Visualization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Gustavo Franco Reynoso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6B4DC"/>
                </a:solidFill>
              </a:rPr>
              <a:t>7 Interactive Visualizations  ·  D3.js  ·  RK4  ·  Chebyshev / Barycentric Interpolation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2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91440"/>
            <a:ext cx="11704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What Is the Van der Pol Oscillator? (Plain English)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800" b="1">
                <a:solidFill>
                  <a:srgbClr val="1F4E79"/>
                </a:solidFill>
              </a:rPr>
              <a:t>Think of a swing that keeps swinging forever on its own.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500" b="0">
                <a:solidFill>
                  <a:srgbClr val="3C3C3C"/>
                </a:solidFill>
              </a:rPr>
              <a:t>Normal swings slow down (too much friction) or fly off (too much push). The Van der Pol oscillator finds a perfect middle ground — a self-sustaining rhythm called a limit cycle.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800" b="0">
                <a:solidFill>
                  <a:srgbClr val="3C3C3C"/>
                </a:solidFill>
              </a:rPr>
              <a:t/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800" b="1">
                <a:solidFill>
                  <a:srgbClr val="C55A11"/>
                </a:solidFill>
              </a:rPr>
              <a:t>The magic knob: μ (mu)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</a:rPr>
              <a:t>Small μ → smooth, round waves  (like a gentle pendulum).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</a:rPr>
              <a:t>Large μ → slow charge-up then a hard snap-back  (like a heartbeat).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800" b="0">
                <a:solidFill>
                  <a:srgbClr val="3C3C3C"/>
                </a:solidFill>
              </a:rPr>
              <a:t/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600" b="1">
                <a:solidFill>
                  <a:srgbClr val="1F4E79"/>
                </a:solidFill>
              </a:rPr>
              <a:t>The equation (plain-English version):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2000" b="1">
                <a:solidFill>
                  <a:srgbClr val="123460"/>
                </a:solidFill>
              </a:rPr>
              <a:t>ẍ − μ(1 − x²)ẋ + x = 0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0">
                <a:solidFill>
                  <a:srgbClr val="3C3C3C"/>
                </a:solidFill>
              </a:rPr>
              <a:t>x = position   |   ẋ = speed   |   ẍ = acceleration   |   μ = nonlinearity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</a:rPr>
              <a:t>When |x| &lt; 1 → the middle term pumps energy in.  When |x| &gt; 1 → it takes energy out.  Result: the system locks onto a stable loop.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2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91440"/>
            <a:ext cx="11704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Why Does This Matter?  Real-World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566928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700" b="1">
                <a:solidFill>
                  <a:srgbClr val="1F4E79"/>
                </a:solidFill>
              </a:rPr>
              <a:t>Science &amp; Engineering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</a:rPr>
              <a:t>Cardiac rhythms — heart self-oscillates just like this model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</a:rPr>
              <a:t>Neuroscience — neuron firing patterns match Van der Pol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</a:rPr>
              <a:t>Electrical circuits — invented for vacuum-tube radio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</a:rPr>
              <a:t>Mechanical systems — vibration isolation, MEMS devices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600" b="0">
                <a:solidFill>
                  <a:srgbClr val="3C3C3C"/>
                </a:solidFill>
              </a:rPr>
              <a:t/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700" b="1">
                <a:solidFill>
                  <a:srgbClr val="1F4E79"/>
                </a:solidFill>
              </a:rPr>
              <a:t>Climate &amp; Economics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</a:rPr>
              <a:t>El Niño oscillations use similar nonlinear ODE structure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</a:rPr>
              <a:t>Business cycles modeled as nonlinear oscillators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143000"/>
            <a:ext cx="55778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700" b="1">
                <a:solidFill>
                  <a:srgbClr val="C55A11"/>
                </a:solidFill>
              </a:rPr>
              <a:t>Why study μ?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</a:rPr>
              <a:t>In real life you rarely know the exact parameter value. You need to understand how behavior changes across a range.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600" b="0">
                <a:solidFill>
                  <a:srgbClr val="3C3C3C"/>
                </a:solidFill>
              </a:rPr>
              <a:t/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700" b="1">
                <a:solidFill>
                  <a:srgbClr val="C55A11"/>
                </a:solidFill>
              </a:rPr>
              <a:t>Why use surrogate models?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</a:rPr>
              <a:t>Solving the ODE for every μ is expensive. A surrogate lets you approximate results instantly after one-time precomputation.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600" b="0">
                <a:solidFill>
                  <a:srgbClr val="3C3C3C"/>
                </a:solidFill>
              </a:rPr>
              <a:t/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600" b="1">
                <a:solidFill>
                  <a:srgbClr val="1F4E79"/>
                </a:solidFill>
              </a:rPr>
              <a:t>This project does both: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00" b="1">
                <a:solidFill>
                  <a:srgbClr val="1F4E79"/>
                </a:solidFill>
              </a:rPr>
              <a:t>Explores μ visually AND tests how well surrogates approximate the truth.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2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91440"/>
            <a:ext cx="11704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</a:rPr>
              <a:t>How the Visualization Is Built  (Technical Overview)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700" b="1">
                <a:solidFill>
                  <a:srgbClr val="1F4E79"/>
                </a:solidFill>
              </a:rPr>
              <a:t>Step 1 — Solve the ODE with RK4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</a:rPr>
              <a:t>4th-order Runge-Kutta: re-checks trajectory direction 4× per step so tiny errors don't compound over time.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500" b="0">
                <a:solidFill>
                  <a:srgbClr val="3C3C3C"/>
                </a:solidFill>
              </a:rPr>
              <a:t/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700" b="1">
                <a:solidFill>
                  <a:srgbClr val="1F4E79"/>
                </a:solidFill>
              </a:rPr>
              <a:t>Step 2 — Choose smart sample points (nodes)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</a:rPr>
              <a:t>Equispaced: simple, like measuring every inch.  Chebyshev: denser near edges where polynomials misbehave.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500" b="0">
                <a:solidFill>
                  <a:srgbClr val="3C3C3C"/>
                </a:solidFill>
              </a:rPr>
              <a:t/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700" b="1">
                <a:solidFill>
                  <a:srgbClr val="1F4E79"/>
                </a:solidFill>
              </a:rPr>
              <a:t>Step 3 — Interpolate between samples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</a:rPr>
              <a:t>Barycentric Lagrange interpolation: fills in values between sample points — fast, stable, and numerically sound.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500" b="0">
                <a:solidFill>
                  <a:srgbClr val="3C3C3C"/>
                </a:solidFill>
              </a:rPr>
              <a:t/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700" b="1">
                <a:solidFill>
                  <a:srgbClr val="1F4E79"/>
                </a:solidFill>
              </a:rPr>
              <a:t>Step 4 — Link everything with D3.js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</a:rPr>
              <a:t>Seven interactive pages, each a different lens.  One slider updates every linked chart instantly.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500" b="0">
                <a:solidFill>
                  <a:srgbClr val="3C3C3C"/>
                </a:solidFill>
              </a:rPr>
              <a:t/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1">
                <a:solidFill>
                  <a:srgbClr val="123460"/>
                </a:solidFill>
              </a:rPr>
              <a:t>7 Pages:  Effect of μ  ·  Time Evolution  ·  Basin of Attraction  ·  Vector Field + Nullclines  ·  Amplitude &amp; Period  ·  Barycentric Interpolation  ·  Parametric Surrogate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2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Visualization 1 — Effect of 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ED2F0"/>
                </a:solidFill>
              </a:rPr>
              <a:t>How does changing μ transform the oscillator?</a:t>
            </a:r>
          </a:p>
        </p:txBody>
      </p:sp>
      <p:pic>
        <p:nvPicPr>
          <p:cNvPr id="5" name="Picture 4" descr="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6712" y="1078992"/>
            <a:ext cx="630936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1143000"/>
            <a:ext cx="5239512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1">
                <a:solidFill>
                  <a:srgbClr val="C55A11"/>
                </a:solidFill>
              </a:rPr>
              <a:t>WHAT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0">
                <a:solidFill>
                  <a:srgbClr val="3C3C3C"/>
                </a:solidFill>
              </a:rPr>
              <a:t>Side-by-side plots of velocity, position, and phase-portrait loops — all colored by μ. A bottom panel overlays limit cycles for many μ at once.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500" b="0">
                <a:solidFill>
                  <a:srgbClr val="3C3C3C"/>
                </a:solidFill>
              </a:rPr>
              <a:t/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1">
                <a:solidFill>
                  <a:srgbClr val="008C8C"/>
                </a:solidFill>
              </a:rPr>
              <a:t>WHY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0">
                <a:solidFill>
                  <a:srgbClr val="3C3C3C"/>
                </a:solidFill>
              </a:rPr>
              <a:t>This is the 'big picture' view. One glance shows how the oscillator shifts from smooth sine waves (small μ) to sharp relaxation oscillations (large μ).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500" b="0">
                <a:solidFill>
                  <a:srgbClr val="3C3C3C"/>
                </a:solidFill>
              </a:rPr>
              <a:t/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1">
                <a:solidFill>
                  <a:srgbClr val="1F4E79"/>
                </a:solidFill>
              </a:rPr>
              <a:t>HOW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0">
                <a:solidFill>
                  <a:srgbClr val="3C3C3C"/>
                </a:solidFill>
              </a:rPr>
              <a:t>RK4 solves the ODE for each μ. D3 renders three linked panels with a plasma color scale. Moving the μ slider updates all three panels simultaneously.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2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Visualization 2 — Time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ED2F0"/>
                </a:solidFill>
              </a:rPr>
              <a:t>Watch a single trajectory settle onto its steady cycle</a:t>
            </a:r>
          </a:p>
        </p:txBody>
      </p:sp>
      <p:pic>
        <p:nvPicPr>
          <p:cNvPr id="5" name="Picture 4" descr="p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78992"/>
            <a:ext cx="630936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0" y="1143000"/>
            <a:ext cx="5239512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1">
                <a:solidFill>
                  <a:srgbClr val="C55A11"/>
                </a:solidFill>
              </a:rPr>
              <a:t>WHAT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0">
                <a:solidFill>
                  <a:srgbClr val="3C3C3C"/>
                </a:solidFill>
              </a:rPr>
              <a:t>An animated dot moves through phase space (left) while the matching time signal grows on the right. A dashed curve shows the target limit cycle.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500" b="0">
                <a:solidFill>
                  <a:srgbClr val="3C3C3C"/>
                </a:solidFill>
              </a:rPr>
              <a:t/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1">
                <a:solidFill>
                  <a:srgbClr val="008C8C"/>
                </a:solidFill>
              </a:rPr>
              <a:t>WHY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0">
                <a:solidFill>
                  <a:srgbClr val="3C3C3C"/>
                </a:solidFill>
              </a:rPr>
              <a:t>Most systems start messy and settle down. This animation makes that 'settling' visible — you can literally watch the system forget its initial conditions.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500" b="0">
                <a:solidFill>
                  <a:srgbClr val="3C3C3C"/>
                </a:solidFill>
              </a:rPr>
              <a:t/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1">
                <a:solidFill>
                  <a:srgbClr val="1F4E79"/>
                </a:solidFill>
              </a:rPr>
              <a:t>HOW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0">
                <a:solidFill>
                  <a:srgbClr val="3C3C3C"/>
                </a:solidFill>
              </a:rPr>
              <a:t>The ODE is integrated step-by-step. Each animation frame draws the next path segment in both panels. Play/pause and μ selector give full interactive control.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2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Visualization 3 — Basin of Attraction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ED2F0"/>
                </a:solidFill>
              </a:rPr>
              <a:t>Does starting position matter?  Short answer: no.</a:t>
            </a:r>
          </a:p>
        </p:txBody>
      </p:sp>
      <p:pic>
        <p:nvPicPr>
          <p:cNvPr id="5" name="Picture 4" descr="p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6712" y="1078992"/>
            <a:ext cx="630936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1143000"/>
            <a:ext cx="5239512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1">
                <a:solidFill>
                  <a:srgbClr val="C55A11"/>
                </a:solidFill>
              </a:rPr>
              <a:t>WHAT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0">
                <a:solidFill>
                  <a:srgbClr val="3C3C3C"/>
                </a:solidFill>
              </a:rPr>
              <a:t>Eight trajectories start at different positions — some inside the limit cycle, some outside. All are animated simultaneously in phase space.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500" b="0">
                <a:solidFill>
                  <a:srgbClr val="3C3C3C"/>
                </a:solidFill>
              </a:rPr>
              <a:t/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1">
                <a:solidFill>
                  <a:srgbClr val="008C8C"/>
                </a:solidFill>
              </a:rPr>
              <a:t>WHY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0">
                <a:solidFill>
                  <a:srgbClr val="3C3C3C"/>
                </a:solidFill>
              </a:rPr>
              <a:t>A 'global attractor' means every starting point ends up in the same place. Watching all eight converge to the same dashed oval confirms the cycle is rock-solid.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500" b="0">
                <a:solidFill>
                  <a:srgbClr val="3C3C3C"/>
                </a:solidFill>
              </a:rPr>
              <a:t/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1">
                <a:solidFill>
                  <a:srgbClr val="1F4E79"/>
                </a:solidFill>
              </a:rPr>
              <a:t>HOW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0">
                <a:solidFill>
                  <a:srgbClr val="3C3C3C"/>
                </a:solidFill>
              </a:rPr>
              <a:t>Eight initial conditions are integrated in parallel. Each gets a unique color. The limit cycle is overlaid as a dashed reference.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2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Visualization 4 — Vector Field + Nullclines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ED2F0"/>
                </a:solidFill>
              </a:rPr>
              <a:t>What forces push the system at every point in space?</a:t>
            </a:r>
          </a:p>
        </p:txBody>
      </p:sp>
      <p:pic>
        <p:nvPicPr>
          <p:cNvPr id="5" name="Picture 4" descr="p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78992"/>
            <a:ext cx="630936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0" y="1143000"/>
            <a:ext cx="5239512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1">
                <a:solidFill>
                  <a:srgbClr val="C55A11"/>
                </a:solidFill>
              </a:rPr>
              <a:t>WHAT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0">
                <a:solidFill>
                  <a:srgbClr val="3C3C3C"/>
                </a:solidFill>
              </a:rPr>
              <a:t>A grid of arrows shows which way and how fast the system moves everywhere in phase space. Two special curves (nullclines) mark where each derivative equals zero.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500" b="0">
                <a:solidFill>
                  <a:srgbClr val="3C3C3C"/>
                </a:solidFill>
              </a:rPr>
              <a:t/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1">
                <a:solidFill>
                  <a:srgbClr val="008C8C"/>
                </a:solidFill>
              </a:rPr>
              <a:t>WHY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0">
                <a:solidFill>
                  <a:srgbClr val="3C3C3C"/>
                </a:solidFill>
              </a:rPr>
              <a:t>This is the terrain map of the system. Instead of watching one trajectory you see the full landscape — arrows show flow, nullclines are the ridges separating different behavior.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500" b="0">
                <a:solidFill>
                  <a:srgbClr val="3C3C3C"/>
                </a:solidFill>
              </a:rPr>
              <a:t/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1">
                <a:solidFill>
                  <a:srgbClr val="1F4E79"/>
                </a:solidFill>
              </a:rPr>
              <a:t>HOW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0">
                <a:solidFill>
                  <a:srgbClr val="3C3C3C"/>
                </a:solidFill>
              </a:rPr>
              <a:t>Arrow direction = f(x,ẋ) evaluated on a grid. Nullclines derived analytically. Arrow brightness encodes speed. Limit cycle overlaid numerically.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2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Visualization 5 — Amplitude &amp; Period vs 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ED2F0"/>
                </a:solidFill>
              </a:rPr>
              <a:t>How do the size and timing of oscillation change with μ?</a:t>
            </a:r>
          </a:p>
        </p:txBody>
      </p:sp>
      <p:pic>
        <p:nvPicPr>
          <p:cNvPr id="5" name="Picture 4" descr="pag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6712" y="1078992"/>
            <a:ext cx="630936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1143000"/>
            <a:ext cx="5239512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1">
                <a:solidFill>
                  <a:srgbClr val="C55A11"/>
                </a:solidFill>
              </a:rPr>
              <a:t>WHAT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0">
                <a:solidFill>
                  <a:srgbClr val="3C3C3C"/>
                </a:solidFill>
              </a:rPr>
              <a:t>Two line charts: amplitude (max |x|) above, period (T) below, both plotted against μ. A dashed reference marks the linear harmonic period 2π.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500" b="0">
                <a:solidFill>
                  <a:srgbClr val="3C3C3C"/>
                </a:solidFill>
              </a:rPr>
              <a:t/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1">
                <a:solidFill>
                  <a:srgbClr val="008C8C"/>
                </a:solidFill>
              </a:rPr>
              <a:t>WHY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0">
                <a:solidFill>
                  <a:srgbClr val="3C3C3C"/>
                </a:solidFill>
              </a:rPr>
              <a:t>Instead of qualitative shapes this gives you numbers. You can spot exactly where the linear approximation breaks down — critical for real-world calibration.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500" b="0">
                <a:solidFill>
                  <a:srgbClr val="3C3C3C"/>
                </a:solidFill>
              </a:rPr>
              <a:t/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1">
                <a:solidFill>
                  <a:srgbClr val="1F4E79"/>
                </a:solidFill>
              </a:rPr>
              <a:t>HOW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0">
                <a:solidFill>
                  <a:srgbClr val="3C3C3C"/>
                </a:solidFill>
              </a:rPr>
              <a:t>For each μ, RK4 runs past the transient. Amplitude = max|x| post-transient. Period detected from successive zero-crossings. Both plotted as connected segments.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2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Visualization 6 — Barycentric Lagrange Interpolation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ED2F0"/>
                </a:solidFill>
              </a:rPr>
              <a:t>Can we reconstruct x(t) without solving the ODE from scratch every time?</a:t>
            </a:r>
          </a:p>
        </p:txBody>
      </p:sp>
      <p:pic>
        <p:nvPicPr>
          <p:cNvPr id="5" name="Picture 4" descr="p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78992"/>
            <a:ext cx="630936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0" y="1143000"/>
            <a:ext cx="5239512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1">
                <a:solidFill>
                  <a:srgbClr val="C55A11"/>
                </a:solidFill>
              </a:rPr>
              <a:t>WHAT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0">
                <a:solidFill>
                  <a:srgbClr val="3C3C3C"/>
                </a:solidFill>
              </a:rPr>
              <a:t>Four panels: interpolated x(t) and ẋ(t) vs RK4 truth, pointwise error (log scale), and convergence of max error vs polynomial degree n.  Red = equispaced, teal = Chebyshev.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500" b="0">
                <a:solidFill>
                  <a:srgbClr val="3C3C3C"/>
                </a:solidFill>
              </a:rPr>
              <a:t/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1">
                <a:solidFill>
                  <a:srgbClr val="008C8C"/>
                </a:solidFill>
              </a:rPr>
              <a:t>WHY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0">
                <a:solidFill>
                  <a:srgbClr val="3C3C3C"/>
                </a:solidFill>
              </a:rPr>
              <a:t>Solving the ODE at every timestep is expensive. Interpolation reconstructs the signal from a few key samples. This page shows which node strategy wins — and where each fails.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500" b="0">
                <a:solidFill>
                  <a:srgbClr val="3C3C3C"/>
                </a:solidFill>
              </a:rPr>
              <a:t/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1">
                <a:solidFill>
                  <a:srgbClr val="1F4E79"/>
                </a:solidFill>
              </a:rPr>
              <a:t>HOW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0">
                <a:solidFill>
                  <a:srgbClr val="3C3C3C"/>
                </a:solidFill>
              </a:rPr>
              <a:t>RK4 truth sampled at n points. Barycentric weights computed; interpolant evaluated on a dense grid. Error = |truth − interpolant|. Degree slider updates all four panels live.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2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457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Visualization 7 — Parametric Surrogate vs 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ED2F0"/>
                </a:solidFill>
              </a:rPr>
              <a:t>Can we predict x(t*) at any μ without running the ODE at all?</a:t>
            </a:r>
          </a:p>
        </p:txBody>
      </p:sp>
      <p:pic>
        <p:nvPicPr>
          <p:cNvPr id="5" name="Picture 4" descr="p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6712" y="1078992"/>
            <a:ext cx="630936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1143000"/>
            <a:ext cx="5239512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1">
                <a:solidFill>
                  <a:srgbClr val="C55A11"/>
                </a:solidFill>
              </a:rPr>
              <a:t>WHAT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0">
                <a:solidFill>
                  <a:srgbClr val="3C3C3C"/>
                </a:solidFill>
              </a:rPr>
              <a:t>Four panels: surrogate vs truth across μ, absolute error vs μ, max error vs training size N, and runtime vs N.  Red = equispaced, teal = Chebyshev.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500" b="0">
                <a:solidFill>
                  <a:srgbClr val="3C3C3C"/>
                </a:solidFill>
              </a:rPr>
              <a:t/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1">
                <a:solidFill>
                  <a:srgbClr val="008C8C"/>
                </a:solidFill>
              </a:rPr>
              <a:t>WHY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0">
                <a:solidFill>
                  <a:srgbClr val="3C3C3C"/>
                </a:solidFill>
              </a:rPr>
              <a:t>This is the practical payoff: run N training solves once, then answer 'what happens at this μ?' instantly. The page quantifies the accuracy–cost tradeoff so you can choose wisely.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500" b="0">
                <a:solidFill>
                  <a:srgbClr val="3C3C3C"/>
                </a:solidFill>
              </a:rPr>
              <a:t/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1">
                <a:solidFill>
                  <a:srgbClr val="1F4E79"/>
                </a:solidFill>
              </a:rPr>
              <a:t>HOW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0">
                <a:solidFill>
                  <a:srgbClr val="3C3C3C"/>
                </a:solidFill>
              </a:rPr>
              <a:t>N ODE solutions run at chosen μ nodes. Barycentric surrogates built and evaluated on a dense μ grid. Error and runtime logged vs N. All panels update when N, node type, or t* changes.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2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91440"/>
            <a:ext cx="11704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Key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600" b="1">
                <a:solidFill>
                  <a:srgbClr val="1F4E79"/>
                </a:solidFill>
              </a:rPr>
              <a:t>1.  μ is the master switch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</a:rPr>
              <a:t>One parameter transforms smooth sine waves into sharp relaxation oscillations — visible across every visualization page.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500" b="0">
                <a:solidFill>
                  <a:srgbClr val="3C3C3C"/>
                </a:solidFill>
              </a:rPr>
              <a:t/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600" b="1">
                <a:solidFill>
                  <a:srgbClr val="1F4E79"/>
                </a:solidFill>
              </a:rPr>
              <a:t>2.  The limit cycle is a global attractor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</a:rPr>
              <a:t>No matter where you start, every trajectory ends on the same closed orbit. This makes the system predictable and robust.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500" b="0">
                <a:solidFill>
                  <a:srgbClr val="3C3C3C"/>
                </a:solidFill>
              </a:rPr>
              <a:t/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600" b="1">
                <a:solidFill>
                  <a:srgbClr val="1F4E79"/>
                </a:solidFill>
              </a:rPr>
              <a:t>3.  Chebyshev nodes beat equispaced nodes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</a:rPr>
              <a:t>Runge's phenomenon causes wild oscillations near boundaries with equispaced nodes. Chebyshev clustering prevents this and gives exponential convergence.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500" b="0">
                <a:solidFill>
                  <a:srgbClr val="3C3C3C"/>
                </a:solidFill>
              </a:rPr>
              <a:t/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600" b="1">
                <a:solidFill>
                  <a:srgbClr val="1F4E79"/>
                </a:solidFill>
              </a:rPr>
              <a:t>4.  Cost vs accuracy is a real tradeoff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</a:rPr>
              <a:t>More training nodes → lower surrogate error, but longer precomputation. The visualization quantifies exactly how steep that tradeoff is.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500" b="0">
                <a:solidFill>
                  <a:srgbClr val="3C3C3C"/>
                </a:solidFill>
              </a:rPr>
              <a:t/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600" b="1">
                <a:solidFill>
                  <a:srgbClr val="1F4E79"/>
                </a:solidFill>
              </a:rPr>
              <a:t>5.  Linked views are more powerful than static plots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</a:rPr>
              <a:t>One slider updating phase portrait, time series, error, and cost simultaneously reveals connections that isolated charts hide.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2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91440"/>
            <a:ext cx="11704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800" b="1">
                <a:solidFill>
                  <a:srgbClr val="1F4E79"/>
                </a:solidFill>
              </a:rPr>
              <a:t>What this project accomplished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500" b="0">
                <a:solidFill>
                  <a:srgbClr val="3C3C3C"/>
                </a:solidFill>
              </a:rPr>
              <a:t>A seven-page interactive suite that teaches the Van der Pol oscillator from first principles to advanced surrogate modeling — entirely in the browser, no install required.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700" b="0">
                <a:solidFill>
                  <a:srgbClr val="3C3C3C"/>
                </a:solidFill>
              </a:rPr>
              <a:t/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800" b="1">
                <a:solidFill>
                  <a:srgbClr val="1F4E79"/>
                </a:solidFill>
              </a:rPr>
              <a:t>The core insight in plain English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500" b="0">
                <a:solidFill>
                  <a:srgbClr val="3C3C3C"/>
                </a:solidFill>
              </a:rPr>
              <a:t>Nonlinear dynamics don't need calculus to be understood. A well-designed visualization makes parameter sensitivity, attractors, vector fields, and interpolation error intuitively clear — even for first-time viewers.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700" b="0">
                <a:solidFill>
                  <a:srgbClr val="3C3C3C"/>
                </a:solidFill>
              </a:rPr>
              <a:t/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800" b="1">
                <a:solidFill>
                  <a:srgbClr val="1F4E79"/>
                </a:solidFill>
              </a:rPr>
              <a:t>Design lessons learned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</a:rPr>
              <a:t>Linked views &gt; isolated charts — the μ slider threads through all seven pages.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</a:rPr>
              <a:t>Animation reveals time structure that static plots hide (Basin of Attraction).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</a:rPr>
              <a:t>Plasma color encoding is perceptually uniform — great for a continuous parameter.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</a:rPr>
              <a:t>Log-scale error axes are essential; linear scale collapses all differences to noise.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700" b="0">
                <a:solidFill>
                  <a:srgbClr val="3C3C3C"/>
                </a:solidFill>
              </a:rPr>
              <a:t/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800" b="1">
                <a:solidFill>
                  <a:srgbClr val="1F4E79"/>
                </a:solidFill>
              </a:rPr>
              <a:t>Comparison with alternatives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</a:rPr>
              <a:t>Wolfram / MATLAB: powerful but not browser-native or fully linked. This project trades raw speed for zero-install interactivity and pedagogical transparency.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2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91440"/>
            <a:ext cx="11704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Possible Improvements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43000"/>
            <a:ext cx="566928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700" b="1">
                <a:solidFill>
                  <a:srgbClr val="1F4E79"/>
                </a:solidFill>
              </a:rPr>
              <a:t>Better Surrogate Models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0">
                <a:solidFill>
                  <a:srgbClr val="3C3C3C"/>
                </a:solidFill>
              </a:rPr>
              <a:t>Add cubic splines, RBF, and Gaussian Process surrogates. GPs give uncertainty bands — confidence intervals around predictions.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500" b="0">
                <a:solidFill>
                  <a:srgbClr val="3C3C3C"/>
                </a:solidFill>
              </a:rPr>
              <a:t/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700" b="1">
                <a:solidFill>
                  <a:srgbClr val="1F4E79"/>
                </a:solidFill>
              </a:rPr>
              <a:t>Adaptive Node Placement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0">
                <a:solidFill>
                  <a:srgbClr val="3C3C3C"/>
                </a:solidFill>
              </a:rPr>
              <a:t>Auto-refine sampling near μ values where behavior changes fastest. Could halve the number of ODE solves needed.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500" b="0">
                <a:solidFill>
                  <a:srgbClr val="3C3C3C"/>
                </a:solidFill>
              </a:rPr>
              <a:t/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700" b="1">
                <a:solidFill>
                  <a:srgbClr val="1F4E79"/>
                </a:solidFill>
              </a:rPr>
              <a:t>Stochastic Extension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0">
                <a:solidFill>
                  <a:srgbClr val="3C3C3C"/>
                </a:solidFill>
              </a:rPr>
              <a:t>Add noise to the ODE. Show how limit cycles fuzz into probability clouds — relevant for real noisy systems.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500" b="0">
                <a:solidFill>
                  <a:srgbClr val="3C3C3C"/>
                </a:solidFill>
              </a:rPr>
              <a:t/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700" b="1">
                <a:solidFill>
                  <a:srgbClr val="1F4E79"/>
                </a:solidFill>
              </a:rPr>
              <a:t>Web Workers for Computation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0">
                <a:solidFill>
                  <a:srgbClr val="3C3C3C"/>
                </a:solidFill>
              </a:rPr>
              <a:t>Move ODE solving to background threads so the UI never freezes.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143000"/>
            <a:ext cx="55778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700" b="1">
                <a:solidFill>
                  <a:srgbClr val="1F4E79"/>
                </a:solidFill>
              </a:rPr>
              <a:t>Higher-Dimensional Extension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0">
                <a:solidFill>
                  <a:srgbClr val="3C3C3C"/>
                </a:solidFill>
              </a:rPr>
              <a:t>Coupled Van der Pol oscillators to visualize synchronization and chaos — a richer playground for parameter studies.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500" b="0">
                <a:solidFill>
                  <a:srgbClr val="3C3C3C"/>
                </a:solidFill>
              </a:rPr>
              <a:t/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700" b="1">
                <a:solidFill>
                  <a:srgbClr val="1F4E79"/>
                </a:solidFill>
              </a:rPr>
              <a:t>Downloadable Reports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0">
                <a:solidFill>
                  <a:srgbClr val="3C3C3C"/>
                </a:solidFill>
              </a:rPr>
              <a:t>Export trajectory data, surrogate parameters, and error tables as CSV/JSON for use in external pipelines.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500" b="0">
                <a:solidFill>
                  <a:srgbClr val="3C3C3C"/>
                </a:solidFill>
              </a:rPr>
              <a:t/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700" b="1">
                <a:solidFill>
                  <a:srgbClr val="1F4E79"/>
                </a:solidFill>
              </a:rPr>
              <a:t>Accessibility &amp; Mobile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0">
                <a:solidFill>
                  <a:srgbClr val="3C3C3C"/>
                </a:solidFill>
              </a:rPr>
              <a:t>Add ARIA labels, keyboard navigation, and responsive layouts for tablets and screen-reader users.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500" b="0">
                <a:solidFill>
                  <a:srgbClr val="3C3C3C"/>
                </a:solidFill>
              </a:rPr>
              <a:t/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700" b="1">
                <a:solidFill>
                  <a:srgbClr val="1F4E79"/>
                </a:solidFill>
              </a:rPr>
              <a:t>Side-by-Side Comparison Mode</a:t>
            </a:r>
          </a:p>
          <a:p>
            <a:pPr>
              <a:spcBef>
                <a:spcPts val="300"/>
              </a:spcBef>
              <a:spcAft>
                <a:spcPts val="200"/>
              </a:spcAft>
            </a:pPr>
            <a:r>
              <a:rPr sz="1300" b="0">
                <a:solidFill>
                  <a:srgbClr val="3C3C3C"/>
                </a:solidFill>
              </a:rPr>
              <a:t>Lock two μ values simultaneously to directly compare phase portraits without toggling back and forth.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